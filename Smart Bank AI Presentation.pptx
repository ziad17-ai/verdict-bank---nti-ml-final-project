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72" r:id="rId6"/>
    <p:sldId id="274" r:id="rId7"/>
    <p:sldId id="261" r:id="rId8"/>
    <p:sldId id="273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7C7C"/>
    <a:srgbClr val="006F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10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93D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2293D"/>
                </a:solidFill>
                <a:latin typeface="Arial"/>
              </a:rPr>
              <a:t>Model 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29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
Regression</c:v>
                </c:pt>
                <c:pt idx="1">
                  <c:v>KNN</c:v>
                </c:pt>
                <c:pt idx="2">
                  <c:v>Random
Forest</c:v>
                </c:pt>
                <c:pt idx="3">
                  <c:v>XGBoost</c:v>
                </c:pt>
                <c:pt idx="4">
                  <c:v>LightGBM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89.6</c:v>
                </c:pt>
                <c:pt idx="1">
                  <c:v>89.4</c:v>
                </c:pt>
                <c:pt idx="2">
                  <c:v>92.6</c:v>
                </c:pt>
                <c:pt idx="3">
                  <c:v>93.1</c:v>
                </c:pt>
                <c:pt idx="4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B3-40F4-8CA0-7C64264284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85"/>
        </c:scaling>
        <c:delete val="0"/>
        <c:axPos val="l"/>
        <c:majorGridlines>
          <c:spPr>
            <a:ln w="9525" cap="flat">
              <a:solidFill>
                <a:srgbClr val="DC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93D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2293D"/>
                </a:solidFill>
                <a:latin typeface="Arial"/>
              </a:rPr>
              <a:t>PR-AUC by Model (cross-validated)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12293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29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0.14899999999999999</c:v>
                </c:pt>
                <c:pt idx="1">
                  <c:v>0.40200000000000002</c:v>
                </c:pt>
                <c:pt idx="2">
                  <c:v>0.745</c:v>
                </c:pt>
                <c:pt idx="3">
                  <c:v>0.85499999999999998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D3-45ED-B367-AAD5048DF0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CE6E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93D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2293D"/>
                </a:solidFill>
                <a:latin typeface="Arial"/>
              </a:rPr>
              <a:t>MAE — EUR/USD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29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
Regression</c:v>
                </c:pt>
                <c:pt idx="1">
                  <c:v>XGBoost</c:v>
                </c:pt>
                <c:pt idx="2">
                  <c:v>Random
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3.0000000000000001E-3</c:v>
                </c:pt>
                <c:pt idx="1">
                  <c:v>4.5999999999999999E-3</c:v>
                </c:pt>
                <c:pt idx="2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D7-4396-BA9E-70D9B5F897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.0000000000000001E-3"/>
          <c:min val="0"/>
        </c:scaling>
        <c:delete val="0"/>
        <c:axPos val="l"/>
        <c:majorGridlines>
          <c:spPr>
            <a:ln w="9525" cap="flat">
              <a:solidFill>
                <a:srgbClr val="DCE6E6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107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FCE7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16002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GRADUATION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196596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Bank AI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0" y="306324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Banking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23748" y="39776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8340" y="4087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88340" y="443484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66948" y="39776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1540" y="4087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31540" y="443484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0148" y="39776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4740" y="4087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74740" y="443484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Prediction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53348" y="39776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17940" y="4087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117940" y="443484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0" y="5367528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C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 Members</a:t>
            </a:r>
            <a:br>
              <a:rPr lang="en-US" b="1" i="1" dirty="0">
                <a:solidFill>
                  <a:srgbClr val="5B6B7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br>
              <a:rPr lang="en-US" b="1" i="1" dirty="0">
                <a:solidFill>
                  <a:srgbClr val="5B6B7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US" b="1" i="1" dirty="0">
                <a:solidFill>
                  <a:srgbClr val="5B6B7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1) Ziad Ahmed El Shamy           2) Youssef Mohamed          3) Mourad  Moussa           4) </a:t>
            </a:r>
            <a:r>
              <a:rPr lang="en-US" b="1" i="1" dirty="0" err="1">
                <a:solidFill>
                  <a:srgbClr val="5B6B7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Zahraa</a:t>
            </a:r>
            <a:r>
              <a:rPr lang="en-US" b="1" i="1" dirty="0">
                <a:solidFill>
                  <a:srgbClr val="5B6B7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Reda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6642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384048" cy="384048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2311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Objectives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384048" cy="384048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7980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3649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931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44988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093208"/>
            <a:ext cx="384048" cy="384048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50657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Prediction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63640" y="1691640"/>
            <a:ext cx="384048" cy="384048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93992" y="16642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63640" y="2258568"/>
            <a:ext cx="384048" cy="384048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793992" y="22311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Portfolio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63640" y="2825496"/>
            <a:ext cx="384048" cy="384048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6364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793992" y="27980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3640" y="3392424"/>
            <a:ext cx="384048" cy="384048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636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793992" y="33649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Portal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63640" y="3959352"/>
            <a:ext cx="384048" cy="384048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636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793992" y="3931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Portal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63640" y="4526280"/>
            <a:ext cx="384048" cy="384048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63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793992" y="44988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63640" y="5093208"/>
            <a:ext cx="384048" cy="384048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26364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793992" y="50657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handle four recurring challenges manually or with disconnected legacy tools. Smart Bank AI solves all four with a single integrated platform.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3F8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1229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04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Decisions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7706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whether to approve a loan consistently and fairly, across thousands of applicants.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21488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3F8F8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423160"/>
            <a:ext cx="548640" cy="548640"/>
          </a:xfrm>
          <a:prstGeom prst="ellipse">
            <a:avLst/>
          </a:prstGeom>
          <a:solidFill>
            <a:srgbClr val="1229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404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Fraud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7706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fraudulent transactions in near real-time, despite fraud being under 1% of transactions.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3F8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1229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416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Moves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78231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customers and the bank anticipate currency movements for cross-border transactions.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416052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3F8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4434840"/>
            <a:ext cx="548640" cy="548640"/>
          </a:xfrm>
          <a:prstGeom prst="ellipse">
            <a:avLst/>
          </a:prstGeom>
          <a:solidFill>
            <a:srgbClr val="1229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416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78231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which customers need which products without manually segmenting a large base.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6002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D9EE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91640" y="1600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6002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datasets — loans, transactions, exchange rates, customer records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2487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679192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CE7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91640" y="26791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679192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trained models, each saved as one deployable pipeline bundling preprocessing + model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35661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3758184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D9EE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691640" y="3758184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3758184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(Flask) with a model registry loading all pipelines at startup; JWT auth for user vs manager roles; one endpoint per model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46451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4837176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CE7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691640" y="4837176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4837176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portals — User Portal and Manager Portal — consuming the same backend with different permissions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E33DC8-6A76-4AEA-BEA7-CDCB83E21CA1}"/>
              </a:ext>
            </a:extLst>
          </p:cNvPr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1FE6E4B-7CBA-4332-AA25-F2BB62841524}"/>
              </a:ext>
            </a:extLst>
          </p:cNvPr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FCE7C4"/>
          </a:solidFill>
          <a:ln/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2A44D100-82D3-444A-8ACE-010F2390A9FE}"/>
              </a:ext>
            </a:extLst>
          </p:cNvPr>
          <p:cNvSpPr txBox="1"/>
          <p:nvPr/>
        </p:nvSpPr>
        <p:spPr>
          <a:xfrm>
            <a:off x="0" y="2716588"/>
            <a:ext cx="12191695" cy="148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TAKE A GLANCE ON OUR PLATFORM!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556910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E33DC8-6A76-4AEA-BEA7-CDCB83E21CA1}"/>
              </a:ext>
            </a:extLst>
          </p:cNvPr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1FE6E4B-7CBA-4332-AA25-F2BB62841524}"/>
              </a:ext>
            </a:extLst>
          </p:cNvPr>
          <p:cNvSpPr/>
          <p:nvPr/>
        </p:nvSpPr>
        <p:spPr>
          <a:xfrm>
            <a:off x="-861060" y="4846873"/>
            <a:ext cx="3291840" cy="3291840"/>
          </a:xfrm>
          <a:prstGeom prst="ellipse">
            <a:avLst/>
          </a:prstGeom>
          <a:solidFill>
            <a:srgbClr val="FCE7C4"/>
          </a:solidFill>
          <a:ln/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2A44D100-82D3-444A-8ACE-010F2390A9FE}"/>
              </a:ext>
            </a:extLst>
          </p:cNvPr>
          <p:cNvSpPr txBox="1"/>
          <p:nvPr/>
        </p:nvSpPr>
        <p:spPr>
          <a:xfrm>
            <a:off x="-1" y="743008"/>
            <a:ext cx="12191695" cy="148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THE QR</a:t>
            </a:r>
            <a:endParaRPr lang="en-US" sz="6600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DF280825-1657-49FD-9D43-6EA4306C4D6D}"/>
              </a:ext>
            </a:extLst>
          </p:cNvPr>
          <p:cNvSpPr/>
          <p:nvPr/>
        </p:nvSpPr>
        <p:spPr>
          <a:xfrm>
            <a:off x="5286222" y="2078384"/>
            <a:ext cx="1619250" cy="1146752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80A119-5241-49A2-A6F7-DF1BE1FCC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967" y="3382727"/>
            <a:ext cx="3110066" cy="311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336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Datasets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6634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approval classification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 applicants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income, employment experience, loan amount/intent/interest rate, loan-to-income ratio, credit score, prior default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credit card transactions (Sparkov-style)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~1.3M 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~556K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amount, merchant, category, cardholder demographics, timestamp,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 Prediction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EUR/USD daily rates (Frankfurter API)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2024 – Aug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daily rate, engineered lag and moving-average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customer records (churn-style dataset)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score, age, tenure, balance, number of products, geography, gender, estimated salary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E33DC8-6A76-4AEA-BEA7-CDCB83E21CA1}"/>
              </a:ext>
            </a:extLst>
          </p:cNvPr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1FE6E4B-7CBA-4332-AA25-F2BB62841524}"/>
              </a:ext>
            </a:extLst>
          </p:cNvPr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FCE7C4"/>
          </a:solidFill>
          <a:ln/>
        </p:spPr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2A44D100-82D3-444A-8ACE-010F2390A9FE}"/>
              </a:ext>
            </a:extLst>
          </p:cNvPr>
          <p:cNvSpPr txBox="1"/>
          <p:nvPr/>
        </p:nvSpPr>
        <p:spPr>
          <a:xfrm>
            <a:off x="305" y="2411729"/>
            <a:ext cx="12191695" cy="2034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DIVE INTO OUR NOTEBOOKS!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99506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· SUPERVISED — CLASSIFICATION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Approval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5720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2293D"/>
                </a:solidFill>
              </a:rPr>
              <a:t>Goal: predict whether a loan application should be approved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2293D"/>
                </a:solidFill>
              </a:rPr>
              <a:t>Target is imbalanced (~78% rejected / ~22% approved) — accuracy alone is misleading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2293D"/>
                </a:solidFill>
              </a:rPr>
              <a:t>Prior default history, high loan-to-income ratio, and interest rate are the strongest drivers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2293D"/>
                </a:solidFill>
              </a:rPr>
              <a:t>Final model: tuned XGBoost, explained per-prediction with SHAP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2293D"/>
                </a:solidFill>
              </a:rPr>
              <a:t>Deployed as a single pipeline file (loan_model.pkl)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349240" y="1600200"/>
          <a:ext cx="63093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D96CCA-0FDF-41C3-A3DE-640B1091A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39" y="1600200"/>
            <a:ext cx="6293815" cy="44805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2BBB85-5E72-477F-864B-7EACE61B4859}"/>
              </a:ext>
            </a:extLst>
          </p:cNvPr>
          <p:cNvSpPr txBox="1"/>
          <p:nvPr/>
        </p:nvSpPr>
        <p:spPr>
          <a:xfrm>
            <a:off x="10810886" y="5208650"/>
            <a:ext cx="340031" cy="393192"/>
          </a:xfrm>
          <a:prstGeom prst="rect">
            <a:avLst/>
          </a:prstGeom>
          <a:solidFill>
            <a:srgbClr val="187C7C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· SUPERVISED — IMBALANCED CLASSIFICATION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2293D"/>
                </a:solidFill>
              </a:rPr>
              <a:t>Fraud is only ~0.58% of transactions — accuracy is meaningless; evaluation uses Precision, Recall, PR-AUC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2293D"/>
                </a:solidFill>
              </a:rPr>
              <a:t>Fraud amounts are far larger (median ~$396 vs ~$47) and spike 20–25x late at night (10pm–3am)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12293D"/>
                </a:solidFill>
              </a:rPr>
              <a:t>Final model: XGBoost with target encoding + class-imbalance handling, threshold tuned to 0.95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274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09928" y="4160520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709928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709928" y="47274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71216" y="4160520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71216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871216" y="47274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(fraud class)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32504" y="4160520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F3F8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32504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032504" y="47274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0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349240" y="1554480"/>
          <a:ext cx="63093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SUPERVISED — REGRESSION / TIME-SERIES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 Prediction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5720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2293D"/>
                </a:solidFill>
              </a:rPr>
              <a:t>Goal: predict the next day's EUR/USD exchange rate from ~2.5 years of live daily history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2293D"/>
                </a:solidFill>
              </a:rPr>
              <a:t>Features: lag values (previous day, previous week) and 7-day / 30-day moving averages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2293D"/>
                </a:solidFill>
              </a:rPr>
              <a:t>The simplest model — Linear Regression — won: exchange rates behave close to a random walk day-to-day, a legitimate, defensible finding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2293D"/>
                </a:solidFill>
              </a:rPr>
              <a:t>Deployed as a lightweight pipeline returning tomorrow's predicted rate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349240" y="1600200"/>
          <a:ext cx="63093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· UNSUPERVISED — CLUSTERING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852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2293D"/>
                </a:solidFill>
              </a:rPr>
              <a:t>Goal: group bank customers into behaviorally meaningful segments — no labels used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2293D"/>
                </a:solidFill>
              </a:rPr>
              <a:t>Features: credit score, age, tenure, balance, products, salary, plus geography &amp; gender (one-hot)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2293D"/>
                </a:solidFill>
              </a:rPr>
              <a:t>Method: K-Means, sweeping k = 2 through 10 and selecting the value that maximizes silhouette score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12293D"/>
                </a:solidFill>
              </a:rPr>
              <a:t>Visualized in 2D with both PCA and t-SNE projections; pipeline saved for live segment assignment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03720" y="160020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3F8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0" y="1856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silhouette score achieved at k = 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06640" y="2834640"/>
            <a:ext cx="1234440" cy="123444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06640" y="28346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26880" y="2651760"/>
            <a:ext cx="1600200" cy="1600200"/>
          </a:xfrm>
          <a:prstGeom prst="ellipse">
            <a:avLst/>
          </a:prstGeom>
          <a:solidFill>
            <a:srgbClr val="1229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0" y="265176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52120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clearly distinguishable segments, differentiated primarily by account balance level.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Portfolio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32461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Algorithms Compared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Approval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(classification)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Regression, KNN, Random Forest, XGBoost, 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93.1%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 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(imbalanced)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Regression, Decision Tree, Random Forest, 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(tuned threshold)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 F1 (fraud)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~0.96 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 Prediction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(regression)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Regression, Random Forest, 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(EUR/USD)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(clustering)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(k = 2 to 10 tested)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k =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229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5029200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supervised and unsupervised learning are represented, and every final model was chosen by empirically comparing multiple algorithms — not by assumption.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UNIFIES THE SYSTEM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3F8F8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1229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1109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Workflow Every Time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32888"/>
            <a:ext cx="4654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Understand → Clean → EDA with explicit insight statements → Feature Engineering → Preprocessing → Compare algorithms → Justify the choice → Save as one deployable artifact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3F8F8"/>
          </a:solidFill>
          <a:ln/>
        </p:spPr>
      </p:sp>
      <p:sp>
        <p:nvSpPr>
          <p:cNvPr id="10" name="Shape 8"/>
          <p:cNvSpPr/>
          <p:nvPr/>
        </p:nvSpPr>
        <p:spPr>
          <a:xfrm>
            <a:off x="6291072" y="1947672"/>
            <a:ext cx="502920" cy="502920"/>
          </a:xfrm>
          <a:prstGeom prst="ellipse">
            <a:avLst/>
          </a:prstGeom>
          <a:solidFill>
            <a:srgbClr val="1229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9107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91109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Pipelines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291072" y="2532888"/>
            <a:ext cx="4654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final model bundles preprocessing and the trained model into one saved file, so the backend calls one uniform .predict() regardless of which model it's talking 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3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187952"/>
            <a:ext cx="502920" cy="502920"/>
          </a:xfrm>
          <a:prstGeom prst="ellipse">
            <a:avLst/>
          </a:prstGeom>
          <a:solidFill>
            <a:srgbClr val="1229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15137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Discipline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773168"/>
            <a:ext cx="4654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fits the roughly-balanced loan data; precision/recall/PR-AUC were required for imbalanced fraud; MAE/RMSE for regression; silhouette score for unlabeled clustering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9319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3F8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291072" y="4187952"/>
            <a:ext cx="502920" cy="502920"/>
          </a:xfrm>
          <a:prstGeom prst="ellipse">
            <a:avLst/>
          </a:prstGeom>
          <a:solidFill>
            <a:srgbClr val="1229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91072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415137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Over Cleverness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4773168"/>
            <a:ext cx="4654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benchmarks multiple candidate algorithms before selecting a winner — including cases, like currency prediction, where the simplest model won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Portal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3F8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34540"/>
            <a:ext cx="548640" cy="54864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345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379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/ Log In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0370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account access for every customer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3F8F8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2034540"/>
            <a:ext cx="548640" cy="54864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0345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8379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a Loan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20370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 application and instantly see the prediction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3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497580"/>
            <a:ext cx="548640" cy="54864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4975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30098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Alerts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66674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personal transaction and fraud alerts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15468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3F8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3497580"/>
            <a:ext cx="548640" cy="54864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34975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30098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Tools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66674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currency converter and predictor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3F8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960620"/>
            <a:ext cx="548640" cy="54864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9606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76402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Segment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12978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customer segment they've been placed in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46177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3F8F8"/>
          </a:solidFill>
          <a:ln/>
        </p:spPr>
      </p:sp>
      <p:sp>
        <p:nvSpPr>
          <p:cNvPr id="30" name="Shape 28"/>
          <p:cNvSpPr/>
          <p:nvPr/>
        </p:nvSpPr>
        <p:spPr>
          <a:xfrm>
            <a:off x="6263640" y="4960620"/>
            <a:ext cx="548640" cy="54864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63640" y="49606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476402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512978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their financial activity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ADMIN-FACING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Portal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3F8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34540"/>
            <a:ext cx="548640" cy="54864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345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379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 Dashboard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0370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for all four models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3F8F8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2034540"/>
            <a:ext cx="548640" cy="54864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0345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8379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Review Queue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20370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transactions flagged as suspicious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3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497580"/>
            <a:ext cx="548640" cy="54864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4975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30098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Review Queue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66674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pending loan applications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15468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3F8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3497580"/>
            <a:ext cx="548640" cy="54864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34975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30098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Viewer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66674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cluster plot plus segment profiles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3F8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960620"/>
            <a:ext cx="548640" cy="54864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9606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76402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Analytics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12978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platform usage analytics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CE7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1848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the severe class imbalance in the fraud dataset (0.58% fraud) required careful metric selection and decision-threshold tuning rather than default settings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FCE7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146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four independently-built notebooks, each with its own preprocessing conventions, into one consistently-servable backend format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rgbClr val="FCE7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1071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movements are close to a random walk day-to-day, which caps how much predictive lift any model can realistically add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FCE7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306824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has no ground-truth "correct" answer, so the number of segments had to be justified with silhouette score rather than intuition alone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846320"/>
            <a:ext cx="4114800" cy="4114800"/>
          </a:xfrm>
          <a:prstGeom prst="ellipse">
            <a:avLst/>
          </a:prstGeom>
          <a:solidFill>
            <a:srgbClr val="D9EEE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 successfully unifies four independent ML components — two classification models, one regression/forecasting model, and one clustering model — behind a single platform with tailored user and manager experiences, demonstrating both supervised and unsupervised learning end-to-end, from raw data to a deployable pipeline.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6674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387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model monitoring and retraining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3367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10565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currency prediction to more currency pairs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6725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customer segmentation with richer behavioral 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36752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2395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explainability (SHAP) to more of the models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0" y="59893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BANK AI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1408</Words>
  <Application>Microsoft Office PowerPoint</Application>
  <PresentationFormat>Widescreen</PresentationFormat>
  <Paragraphs>291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Puzzles</cp:lastModifiedBy>
  <cp:revision>7</cp:revision>
  <dcterms:created xsi:type="dcterms:W3CDTF">2026-08-31T19:10:02Z</dcterms:created>
  <dcterms:modified xsi:type="dcterms:W3CDTF">2026-09-02T12:40:43Z</dcterms:modified>
</cp:coreProperties>
</file>